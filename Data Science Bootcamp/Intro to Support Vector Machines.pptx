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Source Code Pro"/>
      <p:regular r:id="rId28"/>
      <p:bold r:id="rId29"/>
      <p:italic r:id="rId30"/>
      <p:boldItalic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SourceCodePro-regular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ourceCodePr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ourceCodePro-boldItalic.fntdata"/><Relationship Id="rId30" Type="http://schemas.openxmlformats.org/officeDocument/2006/relationships/font" Target="fonts/SourceCodePro-italic.fntdata"/><Relationship Id="rId11" Type="http://schemas.openxmlformats.org/officeDocument/2006/relationships/slide" Target="slides/slide7.xml"/><Relationship Id="rId33" Type="http://schemas.openxmlformats.org/officeDocument/2006/relationships/font" Target="fonts/Oswald-bold.fntdata"/><Relationship Id="rId10" Type="http://schemas.openxmlformats.org/officeDocument/2006/relationships/slide" Target="slides/slide6.xml"/><Relationship Id="rId32" Type="http://schemas.openxmlformats.org/officeDocument/2006/relationships/font" Target="fonts/Oswal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24e6f6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424e6f6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5050645d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5050645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523b04c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523b04c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531ac53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531ac53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523b04ca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523b04ca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acbe24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acbe24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23b04ca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23b04ca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23b04ca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23b04ca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23b04ca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23b04ca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23b04ca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23b04ca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523b04ca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523b04ca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23b04ca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23b04ca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523b04ca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523b04ca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5050645d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5050645d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24e6f64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424e6f64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hyperlink" Target="https://www.youtube.com/watch?v=3liCbRZPrZA" TargetMode="External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94350"/>
            <a:ext cx="2315821" cy="6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4" name="Google Shape;64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0" y="1948500"/>
            <a:ext cx="91440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Roboto"/>
                <a:ea typeface="Roboto"/>
                <a:cs typeface="Roboto"/>
                <a:sym typeface="Roboto"/>
              </a:rPr>
              <a:t>Introduction to </a:t>
            </a:r>
            <a:endParaRPr b="1" sz="4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b="1" sz="4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94350"/>
            <a:ext cx="2315821" cy="6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2" name="Google Shape;72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457200" y="1392825"/>
            <a:ext cx="83766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Chapter 9 of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Introduction to Statistical Learning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By Gareth James, et al.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Reading Assignment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9" name="Google Shape;79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81" name="Google Shape;8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Support vector machines (SVMs) are supervised learning models with associated learning algorithms that analyze data and recognize patterns, used for classification and regression analysis. </a:t>
            </a:r>
            <a:endParaRPr sz="3000"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000">
              <a:solidFill>
                <a:srgbClr val="31313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88" name="Google Shape;88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90" name="Google Shape;9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Given a set of training examples, each marked for belonging to one of two categories, an SVM training algorithm builds a model that assigns new examples into one category or the other, making it a non-probabilistic binary linear classifier. </a:t>
            </a:r>
            <a:endParaRPr sz="3000">
              <a:solidFill>
                <a:srgbClr val="31313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97" name="Google Shape;9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99" name="Google Shape;99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An SVM model is a representation of the examples as points in space, mapped so that the examples of the separate categories are divided by a clear gap that is as wide as possible. </a:t>
            </a:r>
            <a:endParaRPr sz="3000"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31313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06" name="Google Shape;10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08" name="Google Shape;108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New examples are then mapped into that same space and predicted to belong to a category based on which side of the gap they fall on.</a:t>
            </a:r>
            <a:endParaRPr sz="30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31313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5" name="Google Shape;11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7" name="Google Shape;117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Let’s show the basic intuition behind SVMs</a:t>
            </a:r>
            <a:r>
              <a:rPr lang="en" sz="2400">
                <a:solidFill>
                  <a:srgbClr val="31313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Imagine the labeled training data below: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775" y="2081150"/>
            <a:ext cx="3935100" cy="27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200" y="2041275"/>
            <a:ext cx="3862250" cy="267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28" name="Google Shape;128;p20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91325" y="1179375"/>
            <a:ext cx="81540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can draw a separating “hyperplane” between the classes.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675" y="2075613"/>
            <a:ext cx="3755300" cy="261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38" name="Google Shape;138;p2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91325" y="1179375"/>
            <a:ext cx="8154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But we have many options of hyperplanes that separate perfectly...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675" y="2075613"/>
            <a:ext cx="3755300" cy="261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" name="Google Shape;146;p2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48" name="Google Shape;148;p22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391325" y="1179375"/>
            <a:ext cx="8154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would like to choose a hyperplane that maximizes the margin between classes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0112" y="1978500"/>
            <a:ext cx="3916420" cy="27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675" y="2075613"/>
            <a:ext cx="3755300" cy="261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59" name="Google Shape;159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391325" y="1179375"/>
            <a:ext cx="8154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vector points that the margin lines touch are known as Support Vectors.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0112" y="1978500"/>
            <a:ext cx="3916420" cy="27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7638" y="1968063"/>
            <a:ext cx="4161375" cy="28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68" name="Google Shape;168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391325" y="1179375"/>
            <a:ext cx="8154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can expand this idea to non-linearly separable data through the “kernel trick”.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9463" y="2038875"/>
            <a:ext cx="5717724" cy="26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78" name="Google Shape;178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80" name="Google Shape;18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Support Vector Machines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391325" y="1179375"/>
            <a:ext cx="8154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Check out </a:t>
            </a:r>
            <a:r>
              <a:rPr lang="en" sz="24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YouTube for nice 3D Visualization videos</a:t>
            </a: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explaining this idea. Refer to reading for math behind this.</a:t>
            </a:r>
            <a:endParaRPr sz="2400">
              <a:solidFill>
                <a:srgbClr val="31313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7275" y="1988700"/>
            <a:ext cx="5904349" cy="281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88" name="Google Shape;18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90" name="Google Shape;190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Example with R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311700" y="1229975"/>
            <a:ext cx="8064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13131"/>
                </a:solidFill>
                <a:highlight>
                  <a:schemeClr val="lt1"/>
                </a:highlight>
              </a:rPr>
              <a:t>Let's go to RStudio and begin to explore an example, then you’ll have a project to test your understanding!</a:t>
            </a:r>
            <a:endParaRPr sz="2400">
              <a:solidFill>
                <a:srgbClr val="31313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31313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