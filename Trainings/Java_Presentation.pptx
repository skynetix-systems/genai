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030B6-2F6F-4927-9277-03F359084DD3}" v="4" dt="2025-11-01T05:55:01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esh Shende" userId="e3593a31e50f0491" providerId="LiveId" clId="{D301EDF7-31DE-4901-B967-525DF5CEB8A7}"/>
    <pc:docChg chg="custSel modSld modMainMaster">
      <pc:chgData name="Akhilesh Shende" userId="e3593a31e50f0491" providerId="LiveId" clId="{D301EDF7-31DE-4901-B967-525DF5CEB8A7}" dt="2025-11-01T05:55:08.821" v="18" actId="1076"/>
      <pc:docMkLst>
        <pc:docMk/>
      </pc:docMkLst>
      <pc:sldChg chg="addSp delSp modSp mod">
        <pc:chgData name="Akhilesh Shende" userId="e3593a31e50f0491" providerId="LiveId" clId="{D301EDF7-31DE-4901-B967-525DF5CEB8A7}" dt="2025-11-01T05:55:08.821" v="18" actId="1076"/>
        <pc:sldMkLst>
          <pc:docMk/>
          <pc:sldMk cId="0" sldId="256"/>
        </pc:sldMkLst>
        <pc:spChg chg="mod">
          <ac:chgData name="Akhilesh Shende" userId="e3593a31e50f0491" providerId="LiveId" clId="{D301EDF7-31DE-4901-B967-525DF5CEB8A7}" dt="2025-10-31T22:41:05.936" v="7" actId="20577"/>
          <ac:spMkLst>
            <pc:docMk/>
            <pc:sldMk cId="0" sldId="256"/>
            <ac:spMk id="2" creationId="{00000000-0000-0000-0000-000000000000}"/>
          </ac:spMkLst>
        </pc:spChg>
        <pc:picChg chg="add del mod">
          <ac:chgData name="Akhilesh Shende" userId="e3593a31e50f0491" providerId="LiveId" clId="{D301EDF7-31DE-4901-B967-525DF5CEB8A7}" dt="2025-11-01T05:54:45.993" v="16" actId="478"/>
          <ac:picMkLst>
            <pc:docMk/>
            <pc:sldMk cId="0" sldId="256"/>
            <ac:picMk id="6" creationId="{F69890E3-9096-27E0-D33E-F32FF921E19F}"/>
          </ac:picMkLst>
        </pc:picChg>
        <pc:picChg chg="add mod">
          <ac:chgData name="Akhilesh Shende" userId="e3593a31e50f0491" providerId="LiveId" clId="{D301EDF7-31DE-4901-B967-525DF5CEB8A7}" dt="2025-11-01T05:55:08.821" v="18" actId="1076"/>
          <ac:picMkLst>
            <pc:docMk/>
            <pc:sldMk cId="0" sldId="256"/>
            <ac:picMk id="8" creationId="{155C6449-AF56-E3D3-0C2A-A4FAB9F0DC1A}"/>
          </ac:picMkLst>
        </pc:picChg>
      </pc:sldChg>
      <pc:sldMasterChg chg="modSp mod modSldLayout">
        <pc:chgData name="Akhilesh Shende" userId="e3593a31e50f0491" providerId="LiveId" clId="{D301EDF7-31DE-4901-B967-525DF5CEB8A7}" dt="2025-11-01T05:51:57.655" v="14" actId="20577"/>
        <pc:sldMasterMkLst>
          <pc:docMk/>
          <pc:sldMasterMk cId="2209977519" sldId="2147483648"/>
        </pc:sldMasterMkLst>
        <pc:spChg chg="mod">
          <ac:chgData name="Akhilesh Shende" userId="e3593a31e50f0491" providerId="LiveId" clId="{D301EDF7-31DE-4901-B967-525DF5CEB8A7}" dt="2025-11-01T05:51:57.655" v="14" actId="20577"/>
          <ac:spMkLst>
            <pc:docMk/>
            <pc:sldMasterMk cId="2209977519" sldId="2147483648"/>
            <ac:spMk id="6" creationId="{00000000-0000-0000-0000-000000000000}"/>
          </ac:spMkLst>
        </pc:spChg>
        <pc:sldLayoutChg chg="addSp modSp mod">
          <pc:chgData name="Akhilesh Shende" userId="e3593a31e50f0491" providerId="LiveId" clId="{D301EDF7-31DE-4901-B967-525DF5CEB8A7}" dt="2025-11-01T05:48:06.775" v="9" actId="1076"/>
          <pc:sldLayoutMkLst>
            <pc:docMk/>
            <pc:sldMasterMk cId="2209977519" sldId="2147483648"/>
            <pc:sldLayoutMk cId="2614314258" sldId="2147483650"/>
          </pc:sldLayoutMkLst>
          <pc:picChg chg="add mod">
            <ac:chgData name="Akhilesh Shende" userId="e3593a31e50f0491" providerId="LiveId" clId="{D301EDF7-31DE-4901-B967-525DF5CEB8A7}" dt="2025-11-01T05:48:06.775" v="9" actId="1076"/>
            <ac:picMkLst>
              <pc:docMk/>
              <pc:sldMasterMk cId="2209977519" sldId="2147483648"/>
              <pc:sldLayoutMk cId="2614314258" sldId="2147483650"/>
              <ac:picMk id="8" creationId="{67821445-145D-8E4F-024B-9C00CB457FC1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821445-145D-8E4F-024B-9C00CB457F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15050" y="5982277"/>
            <a:ext cx="25717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Java </a:t>
            </a:r>
            <a:r>
              <a:t>- </a:t>
            </a:r>
            <a:r>
              <a:rPr lang="en-US"/>
              <a:t>Advanced</a:t>
            </a:r>
            <a:r>
              <a:t> </a:t>
            </a:r>
            <a:r>
              <a:rPr dirty="0"/>
              <a:t>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With Hands-On Coding Examples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Presented by: Akhilesh Shende</a:t>
            </a:r>
          </a:p>
          <a:p>
            <a:pPr>
              <a:defRPr sz="1600"/>
            </a:pPr>
            <a:r>
              <a:rPr sz="2400" dirty="0"/>
              <a:t>Java Version: Java 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5C6449-AF56-E3D3-0C2A-A4FAB9F0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112" y="5795169"/>
            <a:ext cx="25717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600"/>
            </a:pPr>
            <a:r>
              <a:rPr dirty="0"/>
              <a:t>1. </a:t>
            </a:r>
            <a:r>
              <a:rPr sz="2400" dirty="0"/>
              <a:t>Java 17 Overview</a:t>
            </a:r>
          </a:p>
          <a:p>
            <a:pPr>
              <a:defRPr sz="1600"/>
            </a:pPr>
            <a:r>
              <a:rPr sz="2400" dirty="0"/>
              <a:t>2. Data Types and Variables</a:t>
            </a:r>
          </a:p>
          <a:p>
            <a:pPr>
              <a:defRPr sz="1600"/>
            </a:pPr>
            <a:r>
              <a:rPr sz="2400" dirty="0"/>
              <a:t>3. Control Statements</a:t>
            </a:r>
          </a:p>
          <a:p>
            <a:pPr>
              <a:defRPr sz="1600"/>
            </a:pPr>
            <a:r>
              <a:rPr sz="2400" dirty="0"/>
              <a:t>4. Methods &amp; Parameters</a:t>
            </a:r>
          </a:p>
          <a:p>
            <a:pPr>
              <a:defRPr sz="1600"/>
            </a:pPr>
            <a:r>
              <a:rPr sz="2400" dirty="0"/>
              <a:t>5. OOP Concepts</a:t>
            </a:r>
          </a:p>
          <a:p>
            <a:pPr>
              <a:defRPr sz="1600"/>
            </a:pPr>
            <a:r>
              <a:rPr sz="2400" dirty="0"/>
              <a:t>6. Exception Handling</a:t>
            </a:r>
          </a:p>
          <a:p>
            <a:pPr>
              <a:defRPr sz="1600"/>
            </a:pPr>
            <a:r>
              <a:rPr sz="2400" dirty="0"/>
              <a:t>7. Collections Framework</a:t>
            </a:r>
          </a:p>
          <a:p>
            <a:pPr>
              <a:defRPr sz="1600"/>
            </a:pPr>
            <a:r>
              <a:rPr sz="2400" dirty="0"/>
              <a:t>8. Streams API</a:t>
            </a:r>
          </a:p>
          <a:p>
            <a:pPr>
              <a:defRPr sz="1600"/>
            </a:pPr>
            <a:r>
              <a:rPr sz="2400" dirty="0"/>
              <a:t>9. Functional Programming</a:t>
            </a:r>
          </a:p>
          <a:p>
            <a:pPr>
              <a:defRPr sz="1600"/>
            </a:pPr>
            <a:r>
              <a:rPr sz="2400" dirty="0"/>
              <a:t>10. Multithreading</a:t>
            </a:r>
          </a:p>
          <a:p>
            <a:pPr>
              <a:defRPr sz="1600"/>
            </a:pPr>
            <a:r>
              <a:rPr sz="2400" dirty="0"/>
              <a:t>11. Java 17 Features</a:t>
            </a:r>
          </a:p>
          <a:p>
            <a:pPr>
              <a:defRPr sz="1600"/>
            </a:pPr>
            <a:r>
              <a:rPr sz="2400" dirty="0"/>
              <a:t>12. Summary +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17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600"/>
            </a:pPr>
            <a:r>
              <a:rPr sz="2400" dirty="0"/>
              <a:t>• Java = Object-Oriented, Platform-Independent, Robust</a:t>
            </a:r>
          </a:p>
          <a:p>
            <a:pPr>
              <a:defRPr sz="1600"/>
            </a:pPr>
            <a:r>
              <a:rPr sz="2400" dirty="0"/>
              <a:t>• JVM: Runs bytecode on any OS</a:t>
            </a:r>
          </a:p>
          <a:p>
            <a:pPr>
              <a:defRPr sz="1600"/>
            </a:pPr>
            <a:r>
              <a:rPr sz="2400" dirty="0"/>
              <a:t>• JDK 17 is LTS (Long-Term Support)</a:t>
            </a:r>
          </a:p>
          <a:p>
            <a:pPr>
              <a:defRPr sz="1600"/>
            </a:pPr>
            <a:r>
              <a:rPr sz="2400" dirty="0"/>
              <a:t>• Released: Sept 2021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public class </a:t>
            </a:r>
            <a:r>
              <a:rPr sz="2400" dirty="0" err="1"/>
              <a:t>HelloJava</a:t>
            </a:r>
            <a:r>
              <a:rPr sz="2400" dirty="0"/>
              <a:t> {</a:t>
            </a:r>
          </a:p>
          <a:p>
            <a:pPr>
              <a:defRPr sz="1600"/>
            </a:pPr>
            <a:r>
              <a:rPr sz="2400" dirty="0"/>
              <a:t>    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pPr>
              <a:defRPr sz="1600"/>
            </a:pPr>
            <a:r>
              <a:rPr sz="2400" dirty="0"/>
              <a:t>        </a:t>
            </a:r>
            <a:r>
              <a:rPr sz="2400" dirty="0" err="1"/>
              <a:t>System.out.println</a:t>
            </a:r>
            <a:r>
              <a:rPr sz="2400" dirty="0"/>
              <a:t>("Welcome to Java 17!");</a:t>
            </a:r>
          </a:p>
          <a:p>
            <a:pPr>
              <a:defRPr sz="1600"/>
            </a:pPr>
            <a:r>
              <a:rPr sz="2400" dirty="0"/>
              <a:t>    }</a:t>
            </a:r>
          </a:p>
          <a:p>
            <a:pPr>
              <a:defRPr sz="1600"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 &amp;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• Primitive Types: int, float, double, char, </a:t>
            </a:r>
            <a:r>
              <a:rPr sz="2400" dirty="0" err="1"/>
              <a:t>boolean</a:t>
            </a:r>
            <a:endParaRPr sz="2400" dirty="0"/>
          </a:p>
          <a:p>
            <a:pPr>
              <a:defRPr sz="1600"/>
            </a:pPr>
            <a:r>
              <a:rPr sz="2400" dirty="0"/>
              <a:t>• Reference Types: Classes, Arrays, Strings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int age = 25;</a:t>
            </a:r>
          </a:p>
          <a:p>
            <a:pPr>
              <a:defRPr sz="1600"/>
            </a:pPr>
            <a:r>
              <a:rPr sz="2400" dirty="0"/>
              <a:t>String name = "Akhilesh";</a:t>
            </a:r>
          </a:p>
          <a:p>
            <a:pPr>
              <a:defRPr sz="1600"/>
            </a:pPr>
            <a:r>
              <a:rPr sz="2400" dirty="0" err="1"/>
              <a:t>boolean</a:t>
            </a:r>
            <a:r>
              <a:rPr sz="2400" dirty="0"/>
              <a:t> </a:t>
            </a:r>
            <a:r>
              <a:rPr sz="2400" dirty="0" err="1"/>
              <a:t>isActive</a:t>
            </a:r>
            <a:r>
              <a:rPr sz="2400" dirty="0"/>
              <a:t> = true;</a:t>
            </a:r>
          </a:p>
          <a:p>
            <a:pPr>
              <a:defRPr sz="1600"/>
            </a:pPr>
            <a:r>
              <a:rPr sz="2400" dirty="0" err="1"/>
              <a:t>System.out.println</a:t>
            </a:r>
            <a:r>
              <a:rPr sz="2400" dirty="0"/>
              <a:t>(name + " is " + age + " years old.");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600"/>
            </a:pPr>
            <a:r>
              <a:rPr sz="2000" dirty="0"/>
              <a:t>Example:</a:t>
            </a:r>
          </a:p>
          <a:p>
            <a:pPr>
              <a:defRPr sz="1600"/>
            </a:pPr>
            <a:r>
              <a:rPr sz="2000" dirty="0"/>
              <a:t>for (int </a:t>
            </a:r>
            <a:r>
              <a:rPr sz="2000" dirty="0" err="1"/>
              <a:t>i</a:t>
            </a:r>
            <a:r>
              <a:rPr sz="2000" dirty="0"/>
              <a:t> = 1; </a:t>
            </a:r>
            <a:r>
              <a:rPr sz="2000" dirty="0" err="1"/>
              <a:t>i</a:t>
            </a:r>
            <a:r>
              <a:rPr sz="2000" dirty="0"/>
              <a:t> &lt;= 5; </a:t>
            </a:r>
            <a:r>
              <a:rPr sz="2000" dirty="0" err="1"/>
              <a:t>i</a:t>
            </a:r>
            <a:r>
              <a:rPr sz="2000" dirty="0"/>
              <a:t>++) {</a:t>
            </a:r>
          </a:p>
          <a:p>
            <a:pPr>
              <a:defRPr sz="1600"/>
            </a:pPr>
            <a:r>
              <a:rPr sz="2000" dirty="0"/>
              <a:t>    if (</a:t>
            </a:r>
            <a:r>
              <a:rPr sz="2000" dirty="0" err="1"/>
              <a:t>i</a:t>
            </a:r>
            <a:r>
              <a:rPr sz="2000" dirty="0"/>
              <a:t> % 2 == 0)</a:t>
            </a:r>
          </a:p>
          <a:p>
            <a:pPr>
              <a:defRPr sz="1600"/>
            </a:pPr>
            <a:r>
              <a:rPr sz="2000" dirty="0"/>
              <a:t>        </a:t>
            </a:r>
            <a:r>
              <a:rPr sz="2000" dirty="0" err="1"/>
              <a:t>System.out.println</a:t>
            </a:r>
            <a:r>
              <a:rPr sz="2000" dirty="0"/>
              <a:t>(</a:t>
            </a:r>
            <a:r>
              <a:rPr sz="2000" dirty="0" err="1"/>
              <a:t>i</a:t>
            </a:r>
            <a:r>
              <a:rPr sz="2000" dirty="0"/>
              <a:t> + " is even");</a:t>
            </a:r>
          </a:p>
          <a:p>
            <a:pPr>
              <a:defRPr sz="1600"/>
            </a:pPr>
            <a:r>
              <a:rPr sz="2000" dirty="0"/>
              <a:t>    else</a:t>
            </a:r>
          </a:p>
          <a:p>
            <a:pPr>
              <a:defRPr sz="1600"/>
            </a:pPr>
            <a:r>
              <a:rPr sz="2000" dirty="0"/>
              <a:t>        </a:t>
            </a:r>
            <a:r>
              <a:rPr sz="2000" dirty="0" err="1"/>
              <a:t>System.out.println</a:t>
            </a:r>
            <a:r>
              <a:rPr sz="2000" dirty="0"/>
              <a:t>(</a:t>
            </a:r>
            <a:r>
              <a:rPr sz="2000" dirty="0" err="1"/>
              <a:t>i</a:t>
            </a:r>
            <a:r>
              <a:rPr sz="2000" dirty="0"/>
              <a:t> + " is odd");</a:t>
            </a:r>
          </a:p>
          <a:p>
            <a:pPr>
              <a:defRPr sz="1600"/>
            </a:pPr>
            <a:r>
              <a:rPr sz="2000" dirty="0"/>
              <a:t>}</a:t>
            </a:r>
          </a:p>
          <a:p>
            <a:pPr>
              <a:defRPr sz="1600"/>
            </a:pPr>
            <a:endParaRPr sz="2000" dirty="0"/>
          </a:p>
          <a:p>
            <a:pPr>
              <a:defRPr sz="1600"/>
            </a:pPr>
            <a:r>
              <a:rPr sz="2000" dirty="0"/>
              <a:t>Switch Expression:</a:t>
            </a:r>
          </a:p>
          <a:p>
            <a:pPr>
              <a:defRPr sz="1600"/>
            </a:pPr>
            <a:r>
              <a:rPr sz="2000" dirty="0"/>
              <a:t>String day = "MON";</a:t>
            </a:r>
          </a:p>
          <a:p>
            <a:pPr>
              <a:defRPr sz="1600"/>
            </a:pPr>
            <a:r>
              <a:rPr sz="2000" dirty="0"/>
              <a:t>String type = switch (day) {</a:t>
            </a:r>
          </a:p>
          <a:p>
            <a:pPr>
              <a:defRPr sz="1600"/>
            </a:pPr>
            <a:r>
              <a:rPr sz="2000" dirty="0"/>
              <a:t>    case "SAT", "SUN" -&gt; "Weekend";</a:t>
            </a:r>
          </a:p>
          <a:p>
            <a:pPr>
              <a:defRPr sz="1600"/>
            </a:pPr>
            <a:r>
              <a:rPr sz="2000" dirty="0"/>
              <a:t>    default -&gt; "Weekday";</a:t>
            </a:r>
          </a:p>
          <a:p>
            <a:pPr>
              <a:defRPr sz="1600"/>
            </a:pPr>
            <a:r>
              <a:rPr sz="2000" dirty="0"/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public static int add(int a, int b) {</a:t>
            </a:r>
          </a:p>
          <a:p>
            <a:pPr>
              <a:defRPr sz="1600"/>
            </a:pPr>
            <a:r>
              <a:rPr sz="2400" dirty="0"/>
              <a:t>    return a + b;</a:t>
            </a:r>
          </a:p>
          <a:p>
            <a:pPr>
              <a:defRPr sz="1600"/>
            </a:pPr>
            <a:r>
              <a:rPr sz="2400" dirty="0"/>
              <a:t>}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public static void main(String[] </a:t>
            </a:r>
            <a:r>
              <a:rPr sz="2400" dirty="0" err="1"/>
              <a:t>args</a:t>
            </a:r>
            <a:r>
              <a:rPr sz="2400" dirty="0"/>
              <a:t>) {</a:t>
            </a:r>
          </a:p>
          <a:p>
            <a:pPr>
              <a:defRPr sz="1600"/>
            </a:pPr>
            <a:r>
              <a:rPr sz="2400" dirty="0"/>
              <a:t>    int sum = add(10, 20);</a:t>
            </a:r>
          </a:p>
          <a:p>
            <a:pPr>
              <a:defRPr sz="1600"/>
            </a:pPr>
            <a:r>
              <a:rPr sz="2400" dirty="0"/>
              <a:t>    </a:t>
            </a:r>
            <a:r>
              <a:rPr sz="2400" dirty="0" err="1"/>
              <a:t>System.out.println</a:t>
            </a:r>
            <a:r>
              <a:rPr sz="2400" dirty="0"/>
              <a:t>("Sum: " + sum);</a:t>
            </a:r>
          </a:p>
          <a:p>
            <a:pPr>
              <a:defRPr sz="1600"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class Car {</a:t>
            </a:r>
          </a:p>
          <a:p>
            <a:pPr>
              <a:defRPr sz="1600"/>
            </a:pPr>
            <a:r>
              <a:rPr sz="2400" dirty="0"/>
              <a:t>    String model;</a:t>
            </a:r>
          </a:p>
          <a:p>
            <a:pPr>
              <a:defRPr sz="1600"/>
            </a:pPr>
            <a:r>
              <a:rPr sz="2400" dirty="0"/>
              <a:t>    void start() {</a:t>
            </a:r>
          </a:p>
          <a:p>
            <a:pPr>
              <a:defRPr sz="1600"/>
            </a:pPr>
            <a:r>
              <a:rPr sz="2400" dirty="0"/>
              <a:t>        </a:t>
            </a:r>
            <a:r>
              <a:rPr sz="2400" dirty="0" err="1"/>
              <a:t>System.out.println</a:t>
            </a:r>
            <a:r>
              <a:rPr sz="2400" dirty="0"/>
              <a:t>(model + " started.");</a:t>
            </a:r>
          </a:p>
          <a:p>
            <a:pPr>
              <a:defRPr sz="1600"/>
            </a:pPr>
            <a:r>
              <a:rPr sz="2400" dirty="0"/>
              <a:t>    }</a:t>
            </a:r>
          </a:p>
          <a:p>
            <a:pPr>
              <a:defRPr sz="1600"/>
            </a:pPr>
            <a:r>
              <a:rPr sz="2400" dirty="0"/>
              <a:t>}</a:t>
            </a:r>
          </a:p>
          <a:p>
            <a:pPr>
              <a:defRPr sz="1600"/>
            </a:pPr>
            <a:r>
              <a:rPr sz="2400" dirty="0"/>
              <a:t>Car c = new Car();</a:t>
            </a:r>
          </a:p>
          <a:p>
            <a:pPr>
              <a:defRPr sz="1600"/>
            </a:pPr>
            <a:r>
              <a:rPr sz="2400" dirty="0" err="1"/>
              <a:t>c.model</a:t>
            </a:r>
            <a:r>
              <a:rPr sz="2400" dirty="0"/>
              <a:t> = "Tesla";</a:t>
            </a:r>
          </a:p>
          <a:p>
            <a:pPr>
              <a:defRPr sz="1600"/>
            </a:pPr>
            <a:r>
              <a:rPr sz="2400" dirty="0" err="1"/>
              <a:t>c.start</a:t>
            </a:r>
            <a:r>
              <a:rPr sz="2400" dirty="0"/>
              <a:t>();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&amp;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class Animal {</a:t>
            </a:r>
          </a:p>
          <a:p>
            <a:pPr>
              <a:defRPr sz="1600"/>
            </a:pPr>
            <a:r>
              <a:rPr sz="2400" dirty="0"/>
              <a:t>    void sound() { </a:t>
            </a:r>
            <a:r>
              <a:rPr sz="2400" dirty="0" err="1"/>
              <a:t>System.out.println</a:t>
            </a:r>
            <a:r>
              <a:rPr sz="2400" dirty="0"/>
              <a:t>("Animal sound"); }</a:t>
            </a:r>
          </a:p>
          <a:p>
            <a:pPr>
              <a:defRPr sz="1600"/>
            </a:pPr>
            <a:r>
              <a:rPr sz="2400" dirty="0"/>
              <a:t>}</a:t>
            </a:r>
          </a:p>
          <a:p>
            <a:pPr>
              <a:defRPr sz="1600"/>
            </a:pPr>
            <a:r>
              <a:rPr sz="2400" dirty="0"/>
              <a:t>class Dog extends Animal {</a:t>
            </a:r>
          </a:p>
          <a:p>
            <a:pPr>
              <a:defRPr sz="1600"/>
            </a:pPr>
            <a:r>
              <a:rPr sz="2400" dirty="0"/>
              <a:t>    void sound() { </a:t>
            </a:r>
            <a:r>
              <a:rPr sz="2400" dirty="0" err="1"/>
              <a:t>System.out.println</a:t>
            </a:r>
            <a:r>
              <a:rPr sz="2400" dirty="0"/>
              <a:t>("Bark"); }</a:t>
            </a:r>
          </a:p>
          <a:p>
            <a:pPr>
              <a:defRPr sz="1600"/>
            </a:pPr>
            <a:r>
              <a:rPr sz="2400" dirty="0"/>
              <a:t>}</a:t>
            </a:r>
          </a:p>
          <a:p>
            <a:pPr>
              <a:defRPr sz="1600"/>
            </a:pPr>
            <a:r>
              <a:rPr sz="2400" dirty="0"/>
              <a:t>Animal a = new Dog();</a:t>
            </a:r>
          </a:p>
          <a:p>
            <a:pPr>
              <a:defRPr sz="1600"/>
            </a:pPr>
            <a:r>
              <a:rPr sz="2400" dirty="0" err="1"/>
              <a:t>a.sound</a:t>
            </a:r>
            <a:r>
              <a:rPr sz="2400" dirty="0"/>
              <a:t>(); // Output: Bark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 &amp;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600"/>
            </a:pPr>
            <a:r>
              <a:rPr sz="2400" dirty="0"/>
              <a:t>Encapsulation Example:</a:t>
            </a:r>
          </a:p>
          <a:p>
            <a:pPr>
              <a:defRPr sz="1600"/>
            </a:pPr>
            <a:r>
              <a:rPr sz="2400" dirty="0"/>
              <a:t>class Account {</a:t>
            </a:r>
          </a:p>
          <a:p>
            <a:pPr>
              <a:defRPr sz="1600"/>
            </a:pPr>
            <a:r>
              <a:rPr sz="2400" dirty="0"/>
              <a:t>    private double balance;</a:t>
            </a:r>
          </a:p>
          <a:p>
            <a:pPr>
              <a:defRPr sz="1600"/>
            </a:pPr>
            <a:r>
              <a:rPr sz="2400" dirty="0"/>
              <a:t>    public void deposit(double amount) { balance += amount; }</a:t>
            </a:r>
          </a:p>
          <a:p>
            <a:pPr>
              <a:defRPr sz="1600"/>
            </a:pPr>
            <a:r>
              <a:rPr sz="2400" dirty="0"/>
              <a:t>    public double </a:t>
            </a:r>
            <a:r>
              <a:rPr sz="2400" dirty="0" err="1"/>
              <a:t>getBalance</a:t>
            </a:r>
            <a:r>
              <a:rPr sz="2400" dirty="0"/>
              <a:t>() { return balance; }</a:t>
            </a:r>
          </a:p>
          <a:p>
            <a:pPr>
              <a:defRPr sz="1600"/>
            </a:pPr>
            <a:r>
              <a:rPr sz="2400" dirty="0"/>
              <a:t>}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Abstraction Example:</a:t>
            </a:r>
          </a:p>
          <a:p>
            <a:pPr>
              <a:defRPr sz="1600"/>
            </a:pPr>
            <a:r>
              <a:rPr sz="2400" dirty="0"/>
              <a:t>interface Shape { void draw(); }</a:t>
            </a:r>
          </a:p>
          <a:p>
            <a:pPr>
              <a:defRPr sz="1600"/>
            </a:pPr>
            <a:r>
              <a:rPr sz="2400" dirty="0"/>
              <a:t>class Circle implements Shape {</a:t>
            </a:r>
          </a:p>
          <a:p>
            <a:pPr>
              <a:defRPr sz="1600"/>
            </a:pPr>
            <a:r>
              <a:rPr sz="2400" dirty="0"/>
              <a:t>    public void draw() { </a:t>
            </a:r>
            <a:r>
              <a:rPr sz="2400" dirty="0" err="1"/>
              <a:t>System.out.println</a:t>
            </a:r>
            <a:r>
              <a:rPr sz="2400" dirty="0"/>
              <a:t>("Drawing Circle"); }</a:t>
            </a:r>
          </a:p>
          <a:p>
            <a:pPr>
              <a:defRPr sz="1600"/>
            </a:pPr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600"/>
            </a:pPr>
            <a:r>
              <a:rPr sz="2000" dirty="0"/>
              <a:t>Example:</a:t>
            </a:r>
          </a:p>
          <a:p>
            <a:pPr>
              <a:defRPr sz="1600"/>
            </a:pPr>
            <a:r>
              <a:rPr sz="2000" dirty="0"/>
              <a:t>try {</a:t>
            </a:r>
          </a:p>
          <a:p>
            <a:pPr>
              <a:defRPr sz="1600"/>
            </a:pPr>
            <a:r>
              <a:rPr sz="2000" dirty="0"/>
              <a:t>    int result = 10 / 0;</a:t>
            </a:r>
          </a:p>
          <a:p>
            <a:pPr>
              <a:defRPr sz="1600"/>
            </a:pPr>
            <a:r>
              <a:rPr sz="2000" dirty="0"/>
              <a:t>} catch (</a:t>
            </a:r>
            <a:r>
              <a:rPr sz="2000" dirty="0" err="1"/>
              <a:t>ArithmeticException</a:t>
            </a:r>
            <a:r>
              <a:rPr sz="2000" dirty="0"/>
              <a:t> e) {</a:t>
            </a:r>
          </a:p>
          <a:p>
            <a:pPr>
              <a:defRPr sz="1600"/>
            </a:pPr>
            <a:r>
              <a:rPr sz="2000" dirty="0"/>
              <a:t>    </a:t>
            </a:r>
            <a:r>
              <a:rPr sz="2000" dirty="0" err="1"/>
              <a:t>System.out.println</a:t>
            </a:r>
            <a:r>
              <a:rPr sz="2000" dirty="0"/>
              <a:t>("Error: " + </a:t>
            </a:r>
            <a:r>
              <a:rPr sz="2000" dirty="0" err="1"/>
              <a:t>e.getMessage</a:t>
            </a:r>
            <a:r>
              <a:rPr sz="2000" dirty="0"/>
              <a:t>());</a:t>
            </a:r>
          </a:p>
          <a:p>
            <a:pPr>
              <a:defRPr sz="1600"/>
            </a:pPr>
            <a:r>
              <a:rPr sz="2000" dirty="0"/>
              <a:t>} finally {</a:t>
            </a:r>
          </a:p>
          <a:p>
            <a:pPr>
              <a:defRPr sz="1600"/>
            </a:pPr>
            <a:r>
              <a:rPr sz="2000" dirty="0"/>
              <a:t>    </a:t>
            </a:r>
            <a:r>
              <a:rPr sz="2000" dirty="0" err="1"/>
              <a:t>System.out.println</a:t>
            </a:r>
            <a:r>
              <a:rPr sz="2000" dirty="0"/>
              <a:t>("Cleanup done.");</a:t>
            </a:r>
          </a:p>
          <a:p>
            <a:pPr>
              <a:defRPr sz="1600"/>
            </a:pPr>
            <a:r>
              <a:rPr sz="2000" dirty="0"/>
              <a:t>}</a:t>
            </a:r>
          </a:p>
          <a:p>
            <a:pPr>
              <a:defRPr sz="1600"/>
            </a:pPr>
            <a:endParaRPr sz="2000" dirty="0"/>
          </a:p>
          <a:p>
            <a:pPr>
              <a:defRPr sz="1600"/>
            </a:pPr>
            <a:r>
              <a:rPr sz="2000" dirty="0"/>
              <a:t>Custom Exception:</a:t>
            </a:r>
          </a:p>
          <a:p>
            <a:pPr>
              <a:defRPr sz="1600"/>
            </a:pPr>
            <a:r>
              <a:rPr sz="2000" dirty="0"/>
              <a:t>class </a:t>
            </a:r>
            <a:r>
              <a:rPr sz="2000" dirty="0" err="1"/>
              <a:t>InvalidAgeException</a:t>
            </a:r>
            <a:r>
              <a:rPr sz="2000" dirty="0"/>
              <a:t> extends Exception {</a:t>
            </a:r>
          </a:p>
          <a:p>
            <a:pPr>
              <a:defRPr sz="1600"/>
            </a:pPr>
            <a:r>
              <a:rPr sz="2000" dirty="0"/>
              <a:t>    </a:t>
            </a:r>
            <a:r>
              <a:rPr sz="2000" dirty="0" err="1"/>
              <a:t>InvalidAgeException</a:t>
            </a:r>
            <a:r>
              <a:rPr sz="2000" dirty="0"/>
              <a:t>(String msg) { super(msg); }</a:t>
            </a:r>
          </a:p>
          <a:p>
            <a:pPr>
              <a:defRPr sz="1600"/>
            </a:pPr>
            <a:r>
              <a:rPr sz="2000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Interfaces: List, Set, Map</a:t>
            </a:r>
          </a:p>
          <a:p>
            <a:pPr>
              <a:defRPr sz="1600"/>
            </a:pPr>
            <a:r>
              <a:rPr sz="2400" dirty="0"/>
              <a:t>Classes: </a:t>
            </a:r>
            <a:r>
              <a:rPr sz="2400" dirty="0" err="1"/>
              <a:t>ArrayList</a:t>
            </a:r>
            <a:r>
              <a:rPr sz="2400" dirty="0"/>
              <a:t>, HashSet, HashMap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List&lt;String&gt; names = new </a:t>
            </a:r>
            <a:r>
              <a:rPr sz="2400" dirty="0" err="1"/>
              <a:t>ArrayList</a:t>
            </a:r>
            <a:r>
              <a:rPr sz="2400" dirty="0"/>
              <a:t>&lt;&gt;();</a:t>
            </a:r>
          </a:p>
          <a:p>
            <a:pPr>
              <a:defRPr sz="1600"/>
            </a:pPr>
            <a:r>
              <a:rPr sz="2400" dirty="0" err="1"/>
              <a:t>names.add</a:t>
            </a:r>
            <a:r>
              <a:rPr sz="2400" dirty="0"/>
              <a:t>("Akhilesh");</a:t>
            </a:r>
          </a:p>
          <a:p>
            <a:pPr>
              <a:defRPr sz="1600"/>
            </a:pPr>
            <a:r>
              <a:rPr sz="2400" dirty="0" err="1"/>
              <a:t>names.add</a:t>
            </a:r>
            <a:r>
              <a:rPr sz="2400" dirty="0"/>
              <a:t>("Ishan");</a:t>
            </a:r>
          </a:p>
          <a:p>
            <a:pPr>
              <a:defRPr sz="1600"/>
            </a:pPr>
            <a:r>
              <a:rPr sz="2400" dirty="0" err="1"/>
              <a:t>names.forEach</a:t>
            </a:r>
            <a:r>
              <a:rPr sz="2400" dirty="0"/>
              <a:t>(</a:t>
            </a:r>
            <a:r>
              <a:rPr sz="2400" dirty="0" err="1"/>
              <a:t>System.out</a:t>
            </a:r>
            <a:r>
              <a:rPr sz="2400" dirty="0"/>
              <a:t>::</a:t>
            </a:r>
            <a:r>
              <a:rPr sz="2400" dirty="0" err="1"/>
              <a:t>println</a:t>
            </a:r>
            <a:r>
              <a:rPr sz="2400" dirty="0"/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List&lt;Integer&gt; numbers = </a:t>
            </a:r>
            <a:r>
              <a:rPr sz="2400" dirty="0" err="1"/>
              <a:t>List.of</a:t>
            </a:r>
            <a:r>
              <a:rPr sz="2400" dirty="0"/>
              <a:t>(1,2,3,4,5);</a:t>
            </a:r>
          </a:p>
          <a:p>
            <a:pPr>
              <a:defRPr sz="1600"/>
            </a:pPr>
            <a:r>
              <a:rPr sz="2400" dirty="0"/>
              <a:t>int sum = </a:t>
            </a:r>
            <a:r>
              <a:rPr sz="2400" dirty="0" err="1"/>
              <a:t>numbers.stream</a:t>
            </a:r>
            <a:r>
              <a:rPr sz="2400" dirty="0"/>
              <a:t>()</a:t>
            </a:r>
          </a:p>
          <a:p>
            <a:pPr>
              <a:defRPr sz="1600"/>
            </a:pPr>
            <a:r>
              <a:rPr sz="2400" dirty="0"/>
              <a:t>    .filter(n -&gt; n % 2 == 1)</a:t>
            </a:r>
          </a:p>
          <a:p>
            <a:pPr>
              <a:defRPr sz="1600"/>
            </a:pPr>
            <a:r>
              <a:rPr sz="2400" dirty="0"/>
              <a:t>    .</a:t>
            </a:r>
            <a:r>
              <a:rPr sz="2400" dirty="0" err="1"/>
              <a:t>mapToInt</a:t>
            </a:r>
            <a:r>
              <a:rPr sz="2400" dirty="0"/>
              <a:t>(n -&gt; n)</a:t>
            </a:r>
          </a:p>
          <a:p>
            <a:pPr>
              <a:defRPr sz="1600"/>
            </a:pPr>
            <a:r>
              <a:rPr sz="2400" dirty="0"/>
              <a:t>    .sum();</a:t>
            </a:r>
          </a:p>
          <a:p>
            <a:pPr>
              <a:defRPr sz="1600"/>
            </a:pPr>
            <a:r>
              <a:rPr sz="2400" dirty="0" err="1"/>
              <a:t>System.out.println</a:t>
            </a:r>
            <a:r>
              <a:rPr sz="2400" dirty="0"/>
              <a:t>(sum);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Function&lt;Integer, Integer&gt; square = x -&gt; x * x;</a:t>
            </a:r>
          </a:p>
          <a:p>
            <a:pPr>
              <a:defRPr sz="1600"/>
            </a:pPr>
            <a:r>
              <a:rPr sz="2400" dirty="0" err="1"/>
              <a:t>System.out.println</a:t>
            </a:r>
            <a:r>
              <a:rPr sz="2400" dirty="0"/>
              <a:t>(</a:t>
            </a:r>
            <a:r>
              <a:rPr sz="2400" dirty="0" err="1"/>
              <a:t>square.apply</a:t>
            </a:r>
            <a:r>
              <a:rPr sz="2400" dirty="0"/>
              <a:t>(5));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Predicate Example:</a:t>
            </a:r>
          </a:p>
          <a:p>
            <a:pPr>
              <a:defRPr sz="1600"/>
            </a:pPr>
            <a:r>
              <a:rPr sz="2400" dirty="0"/>
              <a:t>Predicate&lt;Integer&gt; </a:t>
            </a:r>
            <a:r>
              <a:rPr sz="2400" dirty="0" err="1"/>
              <a:t>isEven</a:t>
            </a:r>
            <a:r>
              <a:rPr sz="2400" dirty="0"/>
              <a:t> = n -&gt; n % 2 == 0;</a:t>
            </a:r>
          </a:p>
          <a:p>
            <a:pPr>
              <a:defRPr sz="1600"/>
            </a:pPr>
            <a:r>
              <a:rPr sz="2400" dirty="0" err="1"/>
              <a:t>System.out.println</a:t>
            </a:r>
            <a:r>
              <a:rPr sz="2400" dirty="0"/>
              <a:t>(</a:t>
            </a:r>
            <a:r>
              <a:rPr sz="2400" dirty="0" err="1"/>
              <a:t>isEven.test</a:t>
            </a:r>
            <a:r>
              <a:rPr sz="2400" dirty="0"/>
              <a:t>(10)); //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600"/>
            </a:pPr>
            <a:r>
              <a:rPr sz="2400" dirty="0"/>
              <a:t>Example:</a:t>
            </a:r>
          </a:p>
          <a:p>
            <a:pPr>
              <a:defRPr sz="1600"/>
            </a:pPr>
            <a:r>
              <a:rPr sz="2400" dirty="0"/>
              <a:t>class </a:t>
            </a:r>
            <a:r>
              <a:rPr sz="2400" dirty="0" err="1"/>
              <a:t>MyThread</a:t>
            </a:r>
            <a:r>
              <a:rPr sz="2400" dirty="0"/>
              <a:t> extends Thread {</a:t>
            </a:r>
          </a:p>
          <a:p>
            <a:pPr>
              <a:defRPr sz="1600"/>
            </a:pPr>
            <a:r>
              <a:rPr sz="2400" dirty="0"/>
              <a:t>    public void run() {</a:t>
            </a:r>
          </a:p>
          <a:p>
            <a:pPr>
              <a:defRPr sz="1600"/>
            </a:pPr>
            <a:r>
              <a:rPr sz="2400" dirty="0"/>
              <a:t>        </a:t>
            </a:r>
            <a:r>
              <a:rPr sz="2400" dirty="0" err="1"/>
              <a:t>System.out.println</a:t>
            </a:r>
            <a:r>
              <a:rPr sz="2400" dirty="0"/>
              <a:t>("Running in: " + </a:t>
            </a:r>
            <a:r>
              <a:rPr sz="2400" dirty="0" err="1"/>
              <a:t>Thread.currentThread</a:t>
            </a:r>
            <a:r>
              <a:rPr sz="2400" dirty="0"/>
              <a:t>().</a:t>
            </a:r>
            <a:r>
              <a:rPr sz="2400" dirty="0" err="1"/>
              <a:t>getName</a:t>
            </a:r>
            <a:r>
              <a:rPr sz="2400" dirty="0"/>
              <a:t>());</a:t>
            </a:r>
          </a:p>
          <a:p>
            <a:pPr>
              <a:defRPr sz="1600"/>
            </a:pPr>
            <a:r>
              <a:rPr sz="2400" dirty="0"/>
              <a:t>    }</a:t>
            </a:r>
          </a:p>
          <a:p>
            <a:pPr>
              <a:defRPr sz="1600"/>
            </a:pPr>
            <a:r>
              <a:rPr sz="2400" dirty="0"/>
              <a:t>}</a:t>
            </a:r>
          </a:p>
          <a:p>
            <a:pPr>
              <a:defRPr sz="1600"/>
            </a:pPr>
            <a:r>
              <a:rPr sz="2400" dirty="0"/>
              <a:t>new </a:t>
            </a:r>
            <a:r>
              <a:rPr sz="2400" dirty="0" err="1"/>
              <a:t>MyThread</a:t>
            </a:r>
            <a:r>
              <a:rPr sz="2400" dirty="0"/>
              <a:t>().start();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Runnable Example:</a:t>
            </a:r>
          </a:p>
          <a:p>
            <a:pPr>
              <a:defRPr sz="1600"/>
            </a:pPr>
            <a:r>
              <a:rPr sz="2400" dirty="0"/>
              <a:t>Runnable task = () -&gt; </a:t>
            </a:r>
            <a:r>
              <a:rPr sz="2400" dirty="0" err="1"/>
              <a:t>System.out.println</a:t>
            </a:r>
            <a:r>
              <a:rPr sz="2400" dirty="0"/>
              <a:t>("Task executed");</a:t>
            </a:r>
          </a:p>
          <a:p>
            <a:pPr>
              <a:defRPr sz="1600"/>
            </a:pPr>
            <a:r>
              <a:rPr sz="2400" dirty="0"/>
              <a:t>new Thread(task).start();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17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Sealed Classes Example:</a:t>
            </a:r>
          </a:p>
          <a:p>
            <a:pPr>
              <a:defRPr sz="1600"/>
            </a:pPr>
            <a:r>
              <a:rPr sz="2400" dirty="0"/>
              <a:t>sealed class Vehicle permits Car, Bike {}</a:t>
            </a:r>
          </a:p>
          <a:p>
            <a:pPr>
              <a:defRPr sz="1600"/>
            </a:pPr>
            <a:r>
              <a:rPr sz="2400" dirty="0"/>
              <a:t>final class Car extends Vehicle {}</a:t>
            </a:r>
          </a:p>
          <a:p>
            <a:pPr>
              <a:defRPr sz="1600"/>
            </a:pPr>
            <a:r>
              <a:rPr sz="2400" dirty="0"/>
              <a:t>final class Bike extends Vehicle {}</a:t>
            </a:r>
          </a:p>
          <a:p>
            <a:pPr>
              <a:defRPr sz="1600"/>
            </a:pPr>
            <a:endParaRPr sz="2400" dirty="0"/>
          </a:p>
          <a:p>
            <a:pPr>
              <a:defRPr sz="1600"/>
            </a:pPr>
            <a:r>
              <a:rPr sz="2400" dirty="0"/>
              <a:t>Records Example:</a:t>
            </a:r>
          </a:p>
          <a:p>
            <a:pPr>
              <a:defRPr sz="1600"/>
            </a:pPr>
            <a:r>
              <a:rPr sz="2400" dirty="0"/>
              <a:t>record Person(String name, int age) {}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✅ Core Concepts of Java 17</a:t>
            </a:r>
          </a:p>
          <a:p>
            <a:pPr>
              <a:defRPr sz="1600"/>
            </a:pPr>
            <a:r>
              <a:rPr sz="2400" dirty="0"/>
              <a:t>✅ OOP and Functional Programming</a:t>
            </a:r>
          </a:p>
          <a:p>
            <a:pPr>
              <a:defRPr sz="1600"/>
            </a:pPr>
            <a:r>
              <a:rPr sz="2400" dirty="0"/>
              <a:t>✅ Exception Handling and Streams</a:t>
            </a:r>
          </a:p>
          <a:p>
            <a:pPr>
              <a:defRPr sz="1600"/>
            </a:pPr>
            <a:r>
              <a:rPr sz="2400" dirty="0"/>
              <a:t>✅ Modern Java Features (Sealed, Records)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50808d6-f018-4170-8863-633347777b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4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899</Words>
  <Application>Microsoft Office PowerPoint</Application>
  <PresentationFormat>On-screen Show (4:3)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Core Java - Advanced Level</vt:lpstr>
      <vt:lpstr>Agenda</vt:lpstr>
      <vt:lpstr>Java 17 Overview</vt:lpstr>
      <vt:lpstr>Data Types &amp; Variables</vt:lpstr>
      <vt:lpstr>Control Statements</vt:lpstr>
      <vt:lpstr>Methods &amp; Parameters</vt:lpstr>
      <vt:lpstr>OOP Concepts</vt:lpstr>
      <vt:lpstr>Inheritance &amp; Polymorphism</vt:lpstr>
      <vt:lpstr>Encapsulation &amp; Abstraction</vt:lpstr>
      <vt:lpstr>Exception Handling</vt:lpstr>
      <vt:lpstr>Collections Framework</vt:lpstr>
      <vt:lpstr>Streams API</vt:lpstr>
      <vt:lpstr>Functional Programming</vt:lpstr>
      <vt:lpstr>Multithreading</vt:lpstr>
      <vt:lpstr>Java 17 Features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Akhilesh Shende</cp:lastModifiedBy>
  <cp:revision>13</cp:revision>
  <dcterms:created xsi:type="dcterms:W3CDTF">2013-01-27T09:14:16Z</dcterms:created>
  <dcterms:modified xsi:type="dcterms:W3CDTF">2025-11-01T05:55:14Z</dcterms:modified>
  <cp:category/>
</cp:coreProperties>
</file>